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91" d="100"/>
          <a:sy n="91" d="100"/>
        </p:scale>
        <p:origin x="22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B103B-AD74-499E-A460-4F437C66615A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7A2B4-F4E9-4651-BF23-DFD5C632C6C8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39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2A2E3-9A13-4983-8791-56B82419C8B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074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A7ABDB-7405-656B-DCB6-01E80B99E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D902D9-B5C8-F044-944D-235C858A4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42AA1B-B4BF-15BE-E9D0-0FA318EA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A8D640-2076-3DF4-5198-71D6BBA23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059DC2-52B4-9BE9-2F35-7DDC5EC94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119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B781CB-BBB8-B22B-A9EE-6B8F4655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EDF7F-3EEC-F933-E1AA-6FA364AD5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F79536-42FB-BFF7-C4DE-A97BC6726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6BEC32-C7BF-59AF-CA59-596AB635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7F0851-46C0-D6CA-C229-B8F65F46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7995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1AE335-20B4-0A53-13EC-57534470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FBD303C-F978-7989-36D2-61C7EDB65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D9365D-0A85-C832-A24A-BD3CFE59D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E930-7DD1-5BF1-E4D1-16F75E6C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52B6DF-3748-D8DC-CFFA-40CAE7C33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2885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E3CC0C-AA9A-F211-5632-41099435A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7A856D-B24C-52F5-8F45-E28471717C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4758DD-F1E8-3D27-73C2-581BBF56D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A2B78E-B7A1-B040-12C3-1AA37D67B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F272DC-60E8-9097-2254-3D229A913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5DE26D-2334-E4B6-1C09-D93F3045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602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F1C0A6-3EF3-C433-FA7D-7E4EC471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321199-B614-301C-5E91-F8943EAC4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9536775-B970-1515-8CD2-C11981051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75B016-6450-7EAC-8259-151725190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11F5D9B-DC01-A87D-6AF3-6052A8FB8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E01FD0A-25E8-A49B-8C02-14C550F4E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842B82C-F241-5FC3-2936-2173A857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AC95DBC-6F87-00F8-158B-E863B32C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37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6DF363-344A-51D1-0F0A-28924E628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D41C07C-4E9E-4AD5-8116-902A2392F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A5D1D81-F5CE-6A20-024A-555BA6FEA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0EDB7A5-0C99-396B-8CAF-BD4D06484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29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6A0FF38-5724-6C91-9DEB-BBA2C3EC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E1B8A28-BFF3-5857-E291-296B1FF4E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0018FC-7302-F55F-FEB5-DEAC4AFB5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88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AB6E4D-2485-CD22-106E-79CF36564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AB61FF-0E8E-87CA-FA2F-3181F3579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4E5E9B-896B-C15D-23B8-37371351A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6D67E54-B0CE-B7EC-63F1-28C31C1BC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270204-80D7-C6E0-0497-BAB435BA4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ECBA7B-4E1B-51E6-C014-CC1C2275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86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F96C6D-3445-7B85-639F-4C6901AB9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2BA2059-9B5A-AD9D-A156-2090C9789E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BE83D82-6E7F-9B0D-91AF-B7D0CEF23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9897BC-1433-9FD7-23B3-7E0CEB475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B8A4755-6B58-4533-BB7C-381A0CF3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81B8E0-DB00-5EF6-C7A9-120B90F46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257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CB3296-E709-6C35-E0DF-8ACDEA9F1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D948E6D-442E-CEF9-70F9-609EBA1D34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55BBD1-B9B0-FCD2-D37B-0CEEE1DC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831644-5292-DE51-1A4A-90CA16A7E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8252BF-ED41-E97A-62FE-3904AFCBF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817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0B10A1A-955A-6EE6-3E30-E45ADF972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B7D1D67-2E5F-80BF-8879-06C1CBB7FD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BC0EDF-B5B4-42C0-BFD9-DF9CC2A00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FCF596-B476-288C-86C9-1A36DB88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7E5423-A486-004E-A735-2AEA1507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72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BCB0CF8-42BF-F45A-AD39-84DE89CE5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8A73AA-5538-4FAC-9B3A-FC1CCF11B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D6C423-25CC-DA2A-34F7-4B53F3629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35E63-9A0B-420E-BDA0-29B5791B5FE9}" type="datetimeFigureOut">
              <a:rPr lang="en-GB" smtClean="0"/>
              <a:t>30/01/2026</a:t>
            </a:fld>
            <a:endParaRPr lang="en-GB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9539BEE-850C-0D37-B78B-9E3E913A6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C45B87-849D-EA55-1826-A2C945492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42317-E589-4944-82BE-3F8431DE5E9D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549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Image 88">
            <a:extLst>
              <a:ext uri="{FF2B5EF4-FFF2-40B4-BE49-F238E27FC236}">
                <a16:creationId xmlns:a16="http://schemas.microsoft.com/office/drawing/2014/main" id="{734D5067-984F-B8C5-265E-0A16F6198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47" y="1055291"/>
            <a:ext cx="4986244" cy="3387782"/>
          </a:xfrm>
          <a:prstGeom prst="rect">
            <a:avLst/>
          </a:prstGeom>
        </p:spPr>
      </p:pic>
      <p:sp>
        <p:nvSpPr>
          <p:cNvPr id="90" name="ZoneTexte 89">
            <a:extLst>
              <a:ext uri="{FF2B5EF4-FFF2-40B4-BE49-F238E27FC236}">
                <a16:creationId xmlns:a16="http://schemas.microsoft.com/office/drawing/2014/main" id="{9D261890-A0B3-16DD-B041-342186FB7CCF}"/>
              </a:ext>
            </a:extLst>
          </p:cNvPr>
          <p:cNvSpPr txBox="1"/>
          <p:nvPr/>
        </p:nvSpPr>
        <p:spPr>
          <a:xfrm>
            <a:off x="6716231" y="714324"/>
            <a:ext cx="5148169" cy="507831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fr-FR" sz="1200" noProof="0" dirty="0"/>
              <a:t>Les neurosciences comportementales visent à comprendre la complexité des comportements ainsi que les processus neurobiologiques qui les sous-tendent, en conditions normales et pathologiques. </a:t>
            </a:r>
            <a:r>
              <a:rPr lang="fr-FR" sz="1200" b="1" noProof="0" dirty="0"/>
              <a:t>À cette fin, le recourt aux modèles rongeurs est devenu essentiel pour enregistrer, cartographier ou manipuler leur activité neuronale pendant qu’ils réalisent des tâches comportementales.</a:t>
            </a:r>
            <a:endParaRPr lang="fr-FR" sz="1200" noProof="0" dirty="0"/>
          </a:p>
          <a:p>
            <a:r>
              <a:rPr lang="fr-FR" sz="1200" noProof="0" dirty="0"/>
              <a:t>Cependant, l’amélioration des protocoles et dispositifs comportementaux est devenue indispensable afin d’augmenter la quantité et la qualité des données en prenant mieux en compte les comportements naturels des animaux (par exemple : rythme circadien, état motivationnel et niveau d’anxiété).</a:t>
            </a:r>
          </a:p>
          <a:p>
            <a:r>
              <a:rPr lang="fr-FR" sz="1200" noProof="0" dirty="0"/>
              <a:t>Dans cette optique, l’équipe NERB développe avec la RnD Unit la </a:t>
            </a:r>
            <a:r>
              <a:rPr lang="fr-FR" sz="1200" b="1" noProof="0" dirty="0" err="1"/>
              <a:t>BEATBox</a:t>
            </a:r>
            <a:r>
              <a:rPr lang="fr-FR" sz="1200" b="1" noProof="0" dirty="0"/>
              <a:t> (</a:t>
            </a:r>
            <a:r>
              <a:rPr lang="fr-FR" sz="1200" b="1" noProof="0" dirty="0" err="1"/>
              <a:t>Behavioural</a:t>
            </a:r>
            <a:r>
              <a:rPr lang="fr-FR" sz="1200" b="1" noProof="0" dirty="0"/>
              <a:t> and </a:t>
            </a:r>
            <a:r>
              <a:rPr lang="fr-FR" sz="1200" b="1" noProof="0" dirty="0" err="1"/>
              <a:t>Ecological</a:t>
            </a:r>
            <a:r>
              <a:rPr lang="fr-FR" sz="1200" b="1" noProof="0" dirty="0"/>
              <a:t> </a:t>
            </a:r>
            <a:r>
              <a:rPr lang="fr-FR" sz="1200" b="1" noProof="0" dirty="0" err="1"/>
              <a:t>Automated</a:t>
            </a:r>
            <a:r>
              <a:rPr lang="fr-FR" sz="1200" b="1" noProof="0" dirty="0"/>
              <a:t> </a:t>
            </a:r>
            <a:r>
              <a:rPr lang="fr-FR" sz="1200" b="1" noProof="0" dirty="0" err="1"/>
              <a:t>operanT</a:t>
            </a:r>
            <a:r>
              <a:rPr lang="fr-FR" sz="1200" b="1" noProof="0" dirty="0"/>
              <a:t> Box)</a:t>
            </a:r>
            <a:r>
              <a:rPr lang="fr-FR" sz="1200" noProof="0" dirty="0"/>
              <a:t>, un dispositif dans lequel les animaux vivent durant toute la procédure comportementale, avec très peu d’interactions avec l’expérimentateur</a:t>
            </a:r>
            <a:r>
              <a:rPr lang="fr-FR" sz="1200" b="1" noProof="0" dirty="0"/>
              <a:t>. L’ensemble du matériel et des logiciels associés seront publiés en open-source</a:t>
            </a:r>
            <a:r>
              <a:rPr lang="fr-FR" sz="1200" noProof="0" dirty="0"/>
              <a:t>, de façon à rendre la </a:t>
            </a:r>
            <a:r>
              <a:rPr lang="fr-FR" sz="1200" noProof="0" dirty="0" err="1"/>
              <a:t>BEATBox</a:t>
            </a:r>
            <a:r>
              <a:rPr lang="fr-FR" sz="1200" noProof="0" dirty="0"/>
              <a:t> facilement adaptable et améliorable.</a:t>
            </a:r>
          </a:p>
          <a:p>
            <a:endParaRPr lang="fr-FR" sz="1200" noProof="0" dirty="0"/>
          </a:p>
          <a:p>
            <a:r>
              <a:rPr lang="fr-FR" sz="1200" noProof="0" dirty="0"/>
              <a:t>La </a:t>
            </a:r>
            <a:r>
              <a:rPr lang="fr-FR" sz="1200" noProof="0" dirty="0" err="1"/>
              <a:t>BEATBox</a:t>
            </a:r>
            <a:r>
              <a:rPr lang="fr-FR" sz="1200" noProof="0" dirty="0"/>
              <a:t> permettra de :</a:t>
            </a:r>
          </a:p>
          <a:p>
            <a:endParaRPr lang="fr-FR" sz="1200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noProof="0" dirty="0"/>
              <a:t>Réduire le nombre d’animaux impliqués grâce à l’augmentation de la quantité d’essais et à l’amélioration de la qualité des données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noProof="0" dirty="0"/>
              <a:t>Respecter le rythme naturel de l’animal </a:t>
            </a:r>
            <a:r>
              <a:rPr lang="fr-FR" sz="1200" noProof="0" dirty="0"/>
              <a:t>grâce à une participation autonome aux tâches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noProof="0" dirty="0"/>
              <a:t>Réaliser des expériences de longue durée </a:t>
            </a:r>
            <a:r>
              <a:rPr lang="fr-FR" sz="1200" noProof="0" dirty="0"/>
              <a:t>(par exemple sur plusieurs semaines) et augmenter ainsi la quantité de données par animal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noProof="0" dirty="0"/>
              <a:t>Mettre en œuvre des </a:t>
            </a:r>
            <a:r>
              <a:rPr lang="fr-FR" sz="1200" b="1" noProof="0" dirty="0"/>
              <a:t>procédures comportementales complexes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F588493A-3217-7D92-8922-65A690369A9F}"/>
              </a:ext>
            </a:extLst>
          </p:cNvPr>
          <p:cNvSpPr txBox="1"/>
          <p:nvPr/>
        </p:nvSpPr>
        <p:spPr>
          <a:xfrm>
            <a:off x="613021" y="224294"/>
            <a:ext cx="11121779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fr-FR" sz="2400" b="1" noProof="0">
                <a:solidFill>
                  <a:srgbClr val="281E78"/>
                </a:solidFill>
                <a:latin typeface="Arial"/>
                <a:cs typeface="Arial"/>
              </a:rPr>
              <a:t>BEATBOX </a:t>
            </a:r>
            <a:r>
              <a:rPr lang="fr-FR" sz="2400" noProof="0">
                <a:solidFill>
                  <a:srgbClr val="281E78"/>
                </a:solidFill>
                <a:latin typeface="Arial"/>
                <a:cs typeface="Arial"/>
              </a:rPr>
              <a:t>: Un dispositif automatisé pour l’étude du comportement - 2025</a:t>
            </a:r>
          </a:p>
          <a:p>
            <a:r>
              <a:rPr lang="fr-FR" sz="2400" i="1" noProof="0">
                <a:solidFill>
                  <a:srgbClr val="281E78"/>
                </a:solidFill>
                <a:latin typeface="Arial"/>
                <a:cs typeface="Arial"/>
              </a:rPr>
              <a:t>En partenariat avec </a:t>
            </a:r>
            <a:r>
              <a:rPr lang="fr-FR" sz="2400" b="1" i="1" noProof="0">
                <a:solidFill>
                  <a:srgbClr val="281E78"/>
                </a:solidFill>
                <a:latin typeface="Arial"/>
                <a:cs typeface="Arial"/>
              </a:rPr>
              <a:t>l’équipe Burguiere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F93E1019-CCCB-A52F-608F-52806A83AB7C}"/>
              </a:ext>
            </a:extLst>
          </p:cNvPr>
          <p:cNvSpPr txBox="1"/>
          <p:nvPr/>
        </p:nvSpPr>
        <p:spPr>
          <a:xfrm>
            <a:off x="2722242" y="4026807"/>
            <a:ext cx="18847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fr-FR" sz="1000" i="1" noProof="0" err="1"/>
              <a:t>Fig</a:t>
            </a:r>
            <a:r>
              <a:rPr lang="fr-FR" sz="1000" i="1" noProof="0"/>
              <a:t> </a:t>
            </a:r>
            <a:r>
              <a:rPr lang="fr-FR" sz="1000" i="1"/>
              <a:t>1 </a:t>
            </a:r>
            <a:r>
              <a:rPr lang="fr-FR" sz="1000" i="1" noProof="0"/>
              <a:t>: Vue de la CAO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0A2848A-98DB-3375-BEC9-63188002B1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14" t="1362" r="2018" b="1243"/>
          <a:stretch>
            <a:fillRect/>
          </a:stretch>
        </p:blipFill>
        <p:spPr>
          <a:xfrm>
            <a:off x="1652430" y="4355540"/>
            <a:ext cx="978694" cy="174307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F682B960-C3C9-9329-9616-700FF4F78A6A}"/>
              </a:ext>
            </a:extLst>
          </p:cNvPr>
          <p:cNvSpPr txBox="1"/>
          <p:nvPr/>
        </p:nvSpPr>
        <p:spPr>
          <a:xfrm>
            <a:off x="1199392" y="6143959"/>
            <a:ext cx="18847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fr-FR" sz="1000" i="1" noProof="0" err="1"/>
              <a:t>Fig</a:t>
            </a:r>
            <a:r>
              <a:rPr lang="fr-FR" sz="1000" i="1" noProof="0"/>
              <a:t> 2 : Interface utilisateur Python de contrôle du système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96E4BD7-5AB8-423C-1C0E-B2B16EC985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0226" y="4554885"/>
            <a:ext cx="2485774" cy="1449184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2A8AC3E-A7AE-E438-5F65-5372773B3E43}"/>
              </a:ext>
            </a:extLst>
          </p:cNvPr>
          <p:cNvSpPr txBox="1"/>
          <p:nvPr/>
        </p:nvSpPr>
        <p:spPr>
          <a:xfrm>
            <a:off x="3230760" y="6012702"/>
            <a:ext cx="31531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Clr>
                <a:schemeClr val="dk1"/>
              </a:buClr>
              <a:buSzPts val="1100"/>
            </a:pPr>
            <a:r>
              <a:rPr lang="fr-FR" sz="1000" i="1" noProof="0" err="1"/>
              <a:t>Fig</a:t>
            </a:r>
            <a:r>
              <a:rPr lang="fr-FR" sz="1000" i="1" noProof="0"/>
              <a:t> </a:t>
            </a:r>
            <a:r>
              <a:rPr lang="fr-FR" sz="1000" i="1"/>
              <a:t>3</a:t>
            </a:r>
            <a:r>
              <a:rPr lang="fr-FR" sz="1000" i="1" noProof="0"/>
              <a:t> : </a:t>
            </a:r>
            <a:r>
              <a:rPr lang="fr-FR" sz="1000" i="1"/>
              <a:t>Librairie développée en Python pour la personnalisation des tâches comportementales</a:t>
            </a:r>
            <a:endParaRPr lang="fr-FR" sz="1000" i="1" noProof="0"/>
          </a:p>
        </p:txBody>
      </p:sp>
    </p:spTree>
    <p:extLst>
      <p:ext uri="{BB962C8B-B14F-4D97-AF65-F5344CB8AC3E}">
        <p14:creationId xmlns:p14="http://schemas.microsoft.com/office/powerpoint/2010/main" val="68457988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274</Words>
  <Application>Microsoft Office PowerPoint</Application>
  <PresentationFormat>Grand écran</PresentationFormat>
  <Paragraphs>16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TISSIER Pierre</dc:creator>
  <cp:lastModifiedBy>TISSIER Pierre</cp:lastModifiedBy>
  <cp:revision>1</cp:revision>
  <dcterms:created xsi:type="dcterms:W3CDTF">2026-01-30T17:54:29Z</dcterms:created>
  <dcterms:modified xsi:type="dcterms:W3CDTF">2026-01-30T17:55:54Z</dcterms:modified>
</cp:coreProperties>
</file>